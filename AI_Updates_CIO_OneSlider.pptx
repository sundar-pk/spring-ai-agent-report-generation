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951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3EFE9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2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PROGRAM UPDATES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Monthly Review  ·  June 2026  ·  Idea AI · AI for IT Trainings · AI for Business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966960" y="365760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00633C"/>
          </a:solidFill>
          <a:ln/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0" y="3657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100" kern="0" dirty="0">
                <a:solidFill>
                  <a:srgbClr val="8FD9B5"/>
                </a:solidFill>
              </a:rPr>
              <a:t>FORMAT A
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Executive Dashboard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27432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508760"/>
            <a:ext cx="475488" cy="475488"/>
          </a:xfrm>
          <a:prstGeom prst="ellipse">
            <a:avLst/>
          </a:prstGeom>
          <a:solidFill>
            <a:srgbClr val="EAF6F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623060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3167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pPr indent="0" marL="0">
              <a:buNone/>
            </a:pPr>
            <a:r>
              <a:rPr lang="en-US" sz="10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 cases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225296" y="17556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AI use cases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CIO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98698" y="1207008"/>
            <a:ext cx="27432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63290" y="1508760"/>
            <a:ext cx="475488" cy="475488"/>
          </a:xfrm>
          <a:prstGeom prst="ellipse">
            <a:avLst/>
          </a:prstGeom>
          <a:solidFill>
            <a:srgbClr val="EAF6F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590" y="1623060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48506" y="13167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Sep'26</a:t>
            </a:r>
            <a:pPr indent="0" marL="0">
              <a:buNone/>
            </a:pPr>
            <a:r>
              <a:rPr lang="en-US" sz="10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066794" y="17556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go-live,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prod-ready + IT SVC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40196" y="1207008"/>
            <a:ext cx="27432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4788" y="1508760"/>
            <a:ext cx="475488" cy="475488"/>
          </a:xfrm>
          <a:prstGeom prst="ellipse">
            <a:avLst/>
          </a:prstGeom>
          <a:solidFill>
            <a:srgbClr val="EAF6F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623060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90004" y="13167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369</a:t>
            </a:r>
            <a:pPr indent="0" marL="0">
              <a:buNone/>
            </a:pPr>
            <a:r>
              <a:rPr lang="en-US" sz="10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prompts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6908292" y="17556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· Top 100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library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981694" y="1207008"/>
            <a:ext cx="27432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46286" y="1508760"/>
            <a:ext cx="475488" cy="475488"/>
          </a:xfrm>
          <a:prstGeom prst="ellipse">
            <a:avLst/>
          </a:prstGeom>
          <a:solidFill>
            <a:srgbClr val="EAF6F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0586" y="1623060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731502" y="13167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</a:t>
            </a:r>
            <a:pPr indent="0" marL="0">
              <a:buNone/>
            </a:pPr>
            <a:r>
              <a:rPr lang="en-US" sz="10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1000 days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9749790" y="17556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agents target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IT staff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57200" y="2505456"/>
            <a:ext cx="3630168" cy="4041648"/>
          </a:xfrm>
          <a:prstGeom prst="roundRect">
            <a:avLst>
              <a:gd name="adj" fmla="val 1763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88900" dist="38100" dir="5400000">
              <a:srgbClr val="1A3A2B">
                <a:alpha val="1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7200" y="2505456"/>
            <a:ext cx="3630168" cy="841248"/>
          </a:xfrm>
          <a:prstGeom prst="roundRect">
            <a:avLst>
              <a:gd name="adj" fmla="val 7609"/>
            </a:avLst>
          </a:prstGeom>
          <a:solidFill>
            <a:srgbClr val="00915A"/>
          </a:solidFill>
          <a:ln/>
        </p:spPr>
      </p:sp>
      <p:sp>
        <p:nvSpPr>
          <p:cNvPr id="28" name="Shape 22"/>
          <p:cNvSpPr/>
          <p:nvPr/>
        </p:nvSpPr>
        <p:spPr>
          <a:xfrm>
            <a:off x="457200" y="3008376"/>
            <a:ext cx="3630168" cy="33832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9" name="Shape 23"/>
          <p:cNvSpPr/>
          <p:nvPr/>
        </p:nvSpPr>
        <p:spPr>
          <a:xfrm>
            <a:off x="658368" y="2697480"/>
            <a:ext cx="457200" cy="457200"/>
          </a:xfrm>
          <a:prstGeom prst="ellipse">
            <a:avLst/>
          </a:prstGeom>
          <a:solidFill>
            <a:srgbClr val="00A951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2802636"/>
            <a:ext cx="246888" cy="2468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07008" y="261518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AI Use Cases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1207008" y="2980944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on track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76656" y="3493008"/>
            <a:ext cx="32095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AI use cases presented to CIO; defined roadmap to deliver by end of Sep 2026.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POCs  —  by end of June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&amp; FRC reviews  —  by July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HOD demos (50% progress now)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80–90% completion demo by September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incl. IT SVC plan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4311396" y="2505456"/>
            <a:ext cx="3630168" cy="4041648"/>
          </a:xfrm>
          <a:prstGeom prst="roundRect">
            <a:avLst>
              <a:gd name="adj" fmla="val 1763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88900" dist="38100" dir="5400000">
              <a:srgbClr val="1A3A2B">
                <a:alpha val="13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311396" y="2505456"/>
            <a:ext cx="3630168" cy="841248"/>
          </a:xfrm>
          <a:prstGeom prst="roundRect">
            <a:avLst>
              <a:gd name="adj" fmla="val 7609"/>
            </a:avLst>
          </a:prstGeom>
          <a:solidFill>
            <a:srgbClr val="00915A"/>
          </a:solidFill>
          <a:ln/>
        </p:spPr>
      </p:sp>
      <p:sp>
        <p:nvSpPr>
          <p:cNvPr id="36" name="Shape 29"/>
          <p:cNvSpPr/>
          <p:nvPr/>
        </p:nvSpPr>
        <p:spPr>
          <a:xfrm>
            <a:off x="4311396" y="3008376"/>
            <a:ext cx="3630168" cy="33832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37" name="Shape 30"/>
          <p:cNvSpPr/>
          <p:nvPr/>
        </p:nvSpPr>
        <p:spPr>
          <a:xfrm>
            <a:off x="4512564" y="2697480"/>
            <a:ext cx="457200" cy="457200"/>
          </a:xfrm>
          <a:prstGeom prst="ellipse">
            <a:avLst/>
          </a:prstGeom>
          <a:solidFill>
            <a:srgbClr val="00A951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2802636"/>
            <a:ext cx="246888" cy="2468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061204" y="261518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IT Trainings</a:t>
            </a:r>
            <a:endParaRPr lang="en-US" sz="1800" dirty="0"/>
          </a:p>
        </p:txBody>
      </p:sp>
      <p:sp>
        <p:nvSpPr>
          <p:cNvPr id="40" name="Text 32"/>
          <p:cNvSpPr/>
          <p:nvPr/>
        </p:nvSpPr>
        <p:spPr>
          <a:xfrm>
            <a:off x="5061204" y="2980944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Resumed · 2 sessions in June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4530852" y="3493008"/>
            <a:ext cx="32095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MCP deep dive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Bets 2030 shared with all 2S IT staff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Registry &amp; Agent Registry explained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target: 10,000 agents in 1000 days</a:t>
            </a:r>
            <a:endParaRPr lang="en-US" sz="1300" dirty="0"/>
          </a:p>
          <a:p>
            <a:pPr marL="177800" indent="-177800">
              <a:spcBef>
                <a:spcPts val="400"/>
              </a:spcBef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Agentic AI upskilling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&amp; LangGraph kicked off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with business use-case demo</a:t>
            </a:r>
            <a:endParaRPr lang="en-US" sz="1300" dirty="0"/>
          </a:p>
        </p:txBody>
      </p:sp>
      <p:sp>
        <p:nvSpPr>
          <p:cNvPr id="42" name="Shape 34"/>
          <p:cNvSpPr/>
          <p:nvPr/>
        </p:nvSpPr>
        <p:spPr>
          <a:xfrm>
            <a:off x="8165592" y="2505456"/>
            <a:ext cx="3630168" cy="4041648"/>
          </a:xfrm>
          <a:prstGeom prst="roundRect">
            <a:avLst>
              <a:gd name="adj" fmla="val 1763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88900" dist="38100" dir="5400000">
              <a:srgbClr val="1A3A2B">
                <a:alpha val="13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8165592" y="2505456"/>
            <a:ext cx="3630168" cy="841248"/>
          </a:xfrm>
          <a:prstGeom prst="roundRect">
            <a:avLst>
              <a:gd name="adj" fmla="val 7609"/>
            </a:avLst>
          </a:prstGeom>
          <a:solidFill>
            <a:srgbClr val="00915A"/>
          </a:solidFill>
          <a:ln/>
        </p:spPr>
      </p:sp>
      <p:sp>
        <p:nvSpPr>
          <p:cNvPr id="44" name="Shape 36"/>
          <p:cNvSpPr/>
          <p:nvPr/>
        </p:nvSpPr>
        <p:spPr>
          <a:xfrm>
            <a:off x="8165592" y="3008376"/>
            <a:ext cx="3630168" cy="33832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45" name="Shape 37"/>
          <p:cNvSpPr/>
          <p:nvPr/>
        </p:nvSpPr>
        <p:spPr>
          <a:xfrm>
            <a:off x="8366760" y="2697480"/>
            <a:ext cx="457200" cy="457200"/>
          </a:xfrm>
          <a:prstGeom prst="ellipse">
            <a:avLst/>
          </a:prstGeom>
          <a:solidFill>
            <a:srgbClr val="00A951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1916" y="2802636"/>
            <a:ext cx="246888" cy="24688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8915400" y="261518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Business</a:t>
            </a:r>
            <a:endParaRPr lang="en-US" sz="1800" dirty="0"/>
          </a:p>
        </p:txBody>
      </p:sp>
      <p:sp>
        <p:nvSpPr>
          <p:cNvPr id="48" name="Text 39"/>
          <p:cNvSpPr/>
          <p:nvPr/>
        </p:nvSpPr>
        <p:spPr>
          <a:xfrm>
            <a:off x="8915400" y="2980944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Rooms · Made Easy · Prompt-a-thon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8385048" y="3493008"/>
            <a:ext cx="32095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Live Room orientation — Batch 1 &amp; 2 done (Jun 23 &amp; 25)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 Live Room — Jun 30–Jul 2: use cases &amp; scenarios ready, SPOC identified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Office Live Room — Jul 7–8: use cases in progress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Made Easy — Batch 5 on Jul 17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Prompt-a-thon (IT): 369 prompts → Top 100 in library</a:t>
            </a:r>
            <a:endParaRPr lang="en-US" sz="1300" dirty="0"/>
          </a:p>
          <a:p>
            <a:pPr lvl="1" marL="3048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Prompt-a-thon (IRP + BSU): OPS supported on techniques</a:t>
            </a:r>
            <a:endParaRPr lang="en-US" sz="1300" dirty="0"/>
          </a:p>
        </p:txBody>
      </p:sp>
      <p:sp>
        <p:nvSpPr>
          <p:cNvPr id="50" name="Text 41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Program Office  ·  Confidential — for CIO review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50" kern="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PROGRAM — DELIVERY ROADMAP &amp; HIGHLIGHTS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Monthly Review  ·  June 2026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966960" y="365760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00633C"/>
          </a:solidFill>
          <a:ln/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0" y="3657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100" kern="0" dirty="0">
                <a:solidFill>
                  <a:srgbClr val="8FD9B5"/>
                </a:solidFill>
              </a:rPr>
              <a:t>FORMAT B
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Roadmap &amp; Infographic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274320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362456"/>
            <a:ext cx="384048" cy="384048"/>
          </a:xfrm>
          <a:prstGeom prst="ellipse">
            <a:avLst/>
          </a:prstGeom>
          <a:solidFill>
            <a:srgbClr val="EAF6F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458468"/>
            <a:ext cx="192024" cy="1920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344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60704" y="159105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AI use cases to CIO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3298698" y="1170432"/>
            <a:ext cx="274320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45002" y="1362456"/>
            <a:ext cx="384048" cy="384048"/>
          </a:xfrm>
          <a:prstGeom prst="ellipse">
            <a:avLst/>
          </a:prstGeom>
          <a:solidFill>
            <a:srgbClr val="EAF6F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014" y="1458468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02202" y="12344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369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3902202" y="159105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· Top 100 in library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6140196" y="1170432"/>
            <a:ext cx="274320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86500" y="1362456"/>
            <a:ext cx="384048" cy="384048"/>
          </a:xfrm>
          <a:prstGeom prst="ellipse">
            <a:avLst/>
          </a:prstGeom>
          <a:solidFill>
            <a:srgbClr val="EAF6F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458468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43700" y="12344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6743700" y="159105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target / 1000 days</a:t>
            </a:r>
            <a:endParaRPr lang="en-US" sz="880" dirty="0"/>
          </a:p>
        </p:txBody>
      </p:sp>
      <p:sp>
        <p:nvSpPr>
          <p:cNvPr id="21" name="Shape 16"/>
          <p:cNvSpPr/>
          <p:nvPr/>
        </p:nvSpPr>
        <p:spPr>
          <a:xfrm>
            <a:off x="8981694" y="1170432"/>
            <a:ext cx="274320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27998" y="1362456"/>
            <a:ext cx="384048" cy="384048"/>
          </a:xfrm>
          <a:prstGeom prst="ellipse">
            <a:avLst/>
          </a:prstGeom>
          <a:solidFill>
            <a:srgbClr val="EAF6F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010" y="1458468"/>
            <a:ext cx="192024" cy="1920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85198" y="12344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5" name="Text 19"/>
          <p:cNvSpPr/>
          <p:nvPr/>
        </p:nvSpPr>
        <p:spPr>
          <a:xfrm>
            <a:off x="9585198" y="159105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Live Rooms &amp; batches in motion</a:t>
            </a:r>
            <a:endParaRPr lang="en-US" sz="880" dirty="0"/>
          </a:p>
        </p:txBody>
      </p:sp>
      <p:sp>
        <p:nvSpPr>
          <p:cNvPr id="26" name="Text 20"/>
          <p:cNvSpPr/>
          <p:nvPr/>
        </p:nvSpPr>
        <p:spPr>
          <a:xfrm>
            <a:off x="457200" y="2103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6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ROADMAP  ·  JUN → SEP 2026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818120" y="2157984"/>
            <a:ext cx="146304" cy="14630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28" name="Text 22"/>
          <p:cNvSpPr/>
          <p:nvPr/>
        </p:nvSpPr>
        <p:spPr>
          <a:xfrm>
            <a:off x="7991856" y="2084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AI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8796528" y="2157984"/>
            <a:ext cx="146304" cy="146304"/>
          </a:xfrm>
          <a:prstGeom prst="ellipse">
            <a:avLst/>
          </a:prstGeom>
          <a:solidFill>
            <a:srgbClr val="4FC78A"/>
          </a:solidFill>
          <a:ln/>
        </p:spPr>
      </p:sp>
      <p:sp>
        <p:nvSpPr>
          <p:cNvPr id="30" name="Text 24"/>
          <p:cNvSpPr/>
          <p:nvPr/>
        </p:nvSpPr>
        <p:spPr>
          <a:xfrm>
            <a:off x="8970264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9857232" y="2157984"/>
            <a:ext cx="146304" cy="146304"/>
          </a:xfrm>
          <a:prstGeom prst="ellipse">
            <a:avLst/>
          </a:prstGeom>
          <a:solidFill>
            <a:srgbClr val="E0A100"/>
          </a:solidFill>
          <a:ln/>
        </p:spPr>
      </p:sp>
      <p:sp>
        <p:nvSpPr>
          <p:cNvPr id="32" name="Text 26"/>
          <p:cNvSpPr/>
          <p:nvPr/>
        </p:nvSpPr>
        <p:spPr>
          <a:xfrm>
            <a:off x="10030968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685800" y="3657600"/>
            <a:ext cx="10835640" cy="0"/>
          </a:xfrm>
          <a:prstGeom prst="line">
            <a:avLst/>
          </a:prstGeom>
          <a:noFill/>
          <a:ln w="38100">
            <a:solidFill>
              <a:srgbClr val="8FD9B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143000" y="3383280"/>
            <a:ext cx="0" cy="274320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932688" y="3447288"/>
            <a:ext cx="420624" cy="420624"/>
          </a:xfrm>
          <a:prstGeom prst="ellipse">
            <a:avLst/>
          </a:prstGeom>
          <a:solidFill>
            <a:srgbClr val="00915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" y="3552444"/>
            <a:ext cx="210312" cy="210312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384048" y="2542032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438912" y="261518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Jun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438912" y="2852928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POCs done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2880360" y="3657600"/>
            <a:ext cx="0" cy="274320"/>
          </a:xfrm>
          <a:prstGeom prst="line">
            <a:avLst/>
          </a:prstGeom>
          <a:noFill/>
          <a:ln w="19050">
            <a:solidFill>
              <a:srgbClr val="4FC78A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2670048" y="3447288"/>
            <a:ext cx="420624" cy="420624"/>
          </a:xfrm>
          <a:prstGeom prst="ellipse">
            <a:avLst/>
          </a:prstGeom>
          <a:solidFill>
            <a:srgbClr val="4FC78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5204" y="3552444"/>
            <a:ext cx="210312" cy="210312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2121408" y="3968496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44" name="Text 36"/>
          <p:cNvSpPr/>
          <p:nvPr/>
        </p:nvSpPr>
        <p:spPr>
          <a:xfrm>
            <a:off x="2176272" y="404164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23 &amp; 25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2176272" y="427939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Live Room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 &amp; 2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4617720" y="3383280"/>
            <a:ext cx="0" cy="274320"/>
          </a:xfrm>
          <a:prstGeom prst="line">
            <a:avLst/>
          </a:prstGeom>
          <a:noFill/>
          <a:ln w="19050">
            <a:solidFill>
              <a:srgbClr val="4FC78A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4407408" y="3447288"/>
            <a:ext cx="420624" cy="420624"/>
          </a:xfrm>
          <a:prstGeom prst="ellipse">
            <a:avLst/>
          </a:prstGeom>
          <a:solidFill>
            <a:srgbClr val="4FC78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2564" y="3552444"/>
            <a:ext cx="210312" cy="210312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3858768" y="2542032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50" name="Text 41"/>
          <p:cNvSpPr/>
          <p:nvPr/>
        </p:nvSpPr>
        <p:spPr>
          <a:xfrm>
            <a:off x="3913632" y="261518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30–Jul 2</a:t>
            </a:r>
            <a:endParaRPr lang="en-US" sz="950" dirty="0"/>
          </a:p>
        </p:txBody>
      </p:sp>
      <p:sp>
        <p:nvSpPr>
          <p:cNvPr id="51" name="Text 42"/>
          <p:cNvSpPr/>
          <p:nvPr/>
        </p:nvSpPr>
        <p:spPr>
          <a:xfrm>
            <a:off x="3913632" y="2852928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 AI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Room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6355080" y="3657600"/>
            <a:ext cx="0" cy="274320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6144768" y="3447288"/>
            <a:ext cx="420624" cy="420624"/>
          </a:xfrm>
          <a:prstGeom prst="ellipse">
            <a:avLst/>
          </a:prstGeom>
          <a:solidFill>
            <a:srgbClr val="00915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9924" y="3552444"/>
            <a:ext cx="210312" cy="210312"/>
          </a:xfrm>
          <a:prstGeom prst="rect">
            <a:avLst/>
          </a:prstGeom>
        </p:spPr>
      </p:pic>
      <p:sp>
        <p:nvSpPr>
          <p:cNvPr id="55" name="Shape 45"/>
          <p:cNvSpPr/>
          <p:nvPr/>
        </p:nvSpPr>
        <p:spPr>
          <a:xfrm>
            <a:off x="5596128" y="3968496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56" name="Text 46"/>
          <p:cNvSpPr/>
          <p:nvPr/>
        </p:nvSpPr>
        <p:spPr>
          <a:xfrm>
            <a:off x="5650992" y="404164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July</a:t>
            </a:r>
            <a:endParaRPr lang="en-US" sz="950" dirty="0"/>
          </a:p>
        </p:txBody>
      </p:sp>
      <p:sp>
        <p:nvSpPr>
          <p:cNvPr id="57" name="Text 47"/>
          <p:cNvSpPr/>
          <p:nvPr/>
        </p:nvSpPr>
        <p:spPr>
          <a:xfrm>
            <a:off x="5650992" y="427939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FRC reviews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7818120" y="3383280"/>
            <a:ext cx="0" cy="274320"/>
          </a:xfrm>
          <a:prstGeom prst="line">
            <a:avLst/>
          </a:prstGeom>
          <a:noFill/>
          <a:ln w="19050">
            <a:solidFill>
              <a:srgbClr val="4FC78A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7607808" y="3447288"/>
            <a:ext cx="420624" cy="420624"/>
          </a:xfrm>
          <a:prstGeom prst="ellipse">
            <a:avLst/>
          </a:prstGeom>
          <a:solidFill>
            <a:srgbClr val="4FC78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2964" y="3552444"/>
            <a:ext cx="210312" cy="210312"/>
          </a:xfrm>
          <a:prstGeom prst="rect">
            <a:avLst/>
          </a:prstGeom>
        </p:spPr>
      </p:pic>
      <p:sp>
        <p:nvSpPr>
          <p:cNvPr id="61" name="Shape 50"/>
          <p:cNvSpPr/>
          <p:nvPr/>
        </p:nvSpPr>
        <p:spPr>
          <a:xfrm>
            <a:off x="7059168" y="2542032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62" name="Text 51"/>
          <p:cNvSpPr/>
          <p:nvPr/>
        </p:nvSpPr>
        <p:spPr>
          <a:xfrm>
            <a:off x="7114032" y="261518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7–8</a:t>
            </a:r>
            <a:endParaRPr lang="en-US" sz="950" dirty="0"/>
          </a:p>
        </p:txBody>
      </p:sp>
      <p:sp>
        <p:nvSpPr>
          <p:cNvPr id="63" name="Text 52"/>
          <p:cNvSpPr/>
          <p:nvPr/>
        </p:nvSpPr>
        <p:spPr>
          <a:xfrm>
            <a:off x="7114032" y="2852928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Office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Room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9189720" y="3657600"/>
            <a:ext cx="0" cy="274320"/>
          </a:xfrm>
          <a:prstGeom prst="line">
            <a:avLst/>
          </a:prstGeom>
          <a:noFill/>
          <a:ln w="19050">
            <a:solidFill>
              <a:srgbClr val="4FC78A"/>
            </a:solidFill>
            <a:prstDash val="solid"/>
          </a:ln>
        </p:spPr>
      </p:sp>
      <p:sp>
        <p:nvSpPr>
          <p:cNvPr id="65" name="Shape 54"/>
          <p:cNvSpPr/>
          <p:nvPr/>
        </p:nvSpPr>
        <p:spPr>
          <a:xfrm>
            <a:off x="8979408" y="3447288"/>
            <a:ext cx="420624" cy="420624"/>
          </a:xfrm>
          <a:prstGeom prst="ellipse">
            <a:avLst/>
          </a:prstGeom>
          <a:solidFill>
            <a:srgbClr val="4FC78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4564" y="3552444"/>
            <a:ext cx="210312" cy="210312"/>
          </a:xfrm>
          <a:prstGeom prst="rect">
            <a:avLst/>
          </a:prstGeom>
        </p:spPr>
      </p:pic>
      <p:sp>
        <p:nvSpPr>
          <p:cNvPr id="67" name="Shape 55"/>
          <p:cNvSpPr/>
          <p:nvPr/>
        </p:nvSpPr>
        <p:spPr>
          <a:xfrm>
            <a:off x="8430768" y="3968496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68" name="Text 56"/>
          <p:cNvSpPr/>
          <p:nvPr/>
        </p:nvSpPr>
        <p:spPr>
          <a:xfrm>
            <a:off x="8485632" y="404164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17</a:t>
            </a:r>
            <a:endParaRPr lang="en-US" sz="950" dirty="0"/>
          </a:p>
        </p:txBody>
      </p:sp>
      <p:sp>
        <p:nvSpPr>
          <p:cNvPr id="69" name="Text 57"/>
          <p:cNvSpPr/>
          <p:nvPr/>
        </p:nvSpPr>
        <p:spPr>
          <a:xfrm>
            <a:off x="8485632" y="427939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Made Easy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5</a:t>
            </a:r>
            <a:endParaRPr lang="en-US" sz="900" dirty="0"/>
          </a:p>
        </p:txBody>
      </p:sp>
      <p:sp>
        <p:nvSpPr>
          <p:cNvPr id="70" name="Shape 58"/>
          <p:cNvSpPr/>
          <p:nvPr/>
        </p:nvSpPr>
        <p:spPr>
          <a:xfrm>
            <a:off x="10927080" y="3383280"/>
            <a:ext cx="0" cy="274320"/>
          </a:xfrm>
          <a:prstGeom prst="line">
            <a:avLst/>
          </a:prstGeom>
          <a:noFill/>
          <a:ln w="19050">
            <a:solidFill>
              <a:srgbClr val="E0A100"/>
            </a:solidFill>
            <a:prstDash val="solid"/>
          </a:ln>
        </p:spPr>
      </p:sp>
      <p:sp>
        <p:nvSpPr>
          <p:cNvPr id="71" name="Shape 59"/>
          <p:cNvSpPr/>
          <p:nvPr/>
        </p:nvSpPr>
        <p:spPr>
          <a:xfrm>
            <a:off x="10716768" y="3447288"/>
            <a:ext cx="420624" cy="420624"/>
          </a:xfrm>
          <a:prstGeom prst="ellipse">
            <a:avLst/>
          </a:prstGeom>
          <a:solidFill>
            <a:srgbClr val="E0A1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1924" y="3552444"/>
            <a:ext cx="210312" cy="210312"/>
          </a:xfrm>
          <a:prstGeom prst="rect">
            <a:avLst/>
          </a:prstGeom>
        </p:spPr>
      </p:pic>
      <p:sp>
        <p:nvSpPr>
          <p:cNvPr id="73" name="Shape 60"/>
          <p:cNvSpPr/>
          <p:nvPr/>
        </p:nvSpPr>
        <p:spPr>
          <a:xfrm>
            <a:off x="10168128" y="2542032"/>
            <a:ext cx="151790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63500" dist="25400" dir="5400000">
              <a:srgbClr val="1A3A2B">
                <a:alpha val="10000"/>
              </a:srgbClr>
            </a:outerShdw>
          </a:effectLst>
        </p:spPr>
      </p:sp>
      <p:sp>
        <p:nvSpPr>
          <p:cNvPr id="74" name="Text 61"/>
          <p:cNvSpPr/>
          <p:nvPr/>
        </p:nvSpPr>
        <p:spPr>
          <a:xfrm>
            <a:off x="10222992" y="261518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Sep '26</a:t>
            </a:r>
            <a:endParaRPr lang="en-US" sz="950" dirty="0"/>
          </a:p>
        </p:txBody>
      </p:sp>
      <p:sp>
        <p:nvSpPr>
          <p:cNvPr id="75" name="Text 62"/>
          <p:cNvSpPr/>
          <p:nvPr/>
        </p:nvSpPr>
        <p:spPr>
          <a:xfrm>
            <a:off x="10222992" y="2852928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80–90% demo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Prod-ready</a:t>
            </a:r>
            <a:endParaRPr lang="en-US" sz="900" dirty="0"/>
          </a:p>
        </p:txBody>
      </p:sp>
      <p:sp>
        <p:nvSpPr>
          <p:cNvPr id="76" name="Shape 63"/>
          <p:cNvSpPr/>
          <p:nvPr/>
        </p:nvSpPr>
        <p:spPr>
          <a:xfrm>
            <a:off x="457200" y="5074920"/>
            <a:ext cx="27432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88900" dist="38100" dir="5400000">
              <a:srgbClr val="1A3A2B">
                <a:alpha val="13000"/>
              </a:srgbClr>
            </a:outerShdw>
          </a:effectLst>
        </p:spPr>
      </p:sp>
      <p:sp>
        <p:nvSpPr>
          <p:cNvPr id="77" name="Text 64"/>
          <p:cNvSpPr/>
          <p:nvPr/>
        </p:nvSpPr>
        <p:spPr>
          <a:xfrm>
            <a:off x="603504" y="5184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HOD Demo Progress</a:t>
            </a:r>
            <a:endParaRPr lang="en-US" sz="1150" dirty="0"/>
          </a:p>
        </p:txBody>
      </p:sp>
      <p:graphicFrame>
        <p:nvGraphicFramePr>
          <p:cNvPr id="78" name="Chart 0" descr=""/>
          <p:cNvGraphicFramePr/>
          <p:nvPr/>
        </p:nvGraphicFramePr>
        <p:xfrm>
          <a:off x="502920" y="5404104"/>
          <a:ext cx="1143000" cy="1078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79" name="Text 65"/>
          <p:cNvSpPr/>
          <p:nvPr/>
        </p:nvSpPr>
        <p:spPr>
          <a:xfrm>
            <a:off x="502920" y="567842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9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19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5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900" dirty="0"/>
          </a:p>
        </p:txBody>
      </p:sp>
      <p:sp>
        <p:nvSpPr>
          <p:cNvPr id="80" name="Text 66"/>
          <p:cNvSpPr/>
          <p:nvPr/>
        </p:nvSpPr>
        <p:spPr>
          <a:xfrm>
            <a:off x="1755648" y="545896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by Sep '26
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80–90% completion demo,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production-ready</a:t>
            </a:r>
            <a:endParaRPr lang="en-US" sz="950" dirty="0"/>
          </a:p>
        </p:txBody>
      </p:sp>
      <p:sp>
        <p:nvSpPr>
          <p:cNvPr id="81" name="Shape 67"/>
          <p:cNvSpPr/>
          <p:nvPr/>
        </p:nvSpPr>
        <p:spPr>
          <a:xfrm>
            <a:off x="3346704" y="5074920"/>
            <a:ext cx="4224528" cy="1481328"/>
          </a:xfrm>
          <a:prstGeom prst="roundRect">
            <a:avLst>
              <a:gd name="adj" fmla="val 4938"/>
            </a:avLst>
          </a:prstGeom>
          <a:solidFill>
            <a:srgbClr val="EAF6F0"/>
          </a:solidFill>
          <a:ln w="12700">
            <a:solidFill>
              <a:srgbClr val="D7EBE1"/>
            </a:solidFill>
            <a:prstDash val="solid"/>
          </a:ln>
          <a:effectLst>
            <a:outerShdw sx="100000" sy="100000" kx="0" ky="0" algn="bl" rotWithShape="0" blurRad="88900" dist="38100" dir="5400000">
              <a:srgbClr val="1A3A2B">
                <a:alpha val="13000"/>
              </a:srgbClr>
            </a:outerShdw>
          </a:effectLst>
        </p:spPr>
      </p:sp>
      <p:sp>
        <p:nvSpPr>
          <p:cNvPr id="82" name="Shape 68"/>
          <p:cNvSpPr/>
          <p:nvPr/>
        </p:nvSpPr>
        <p:spPr>
          <a:xfrm>
            <a:off x="3511296" y="5221224"/>
            <a:ext cx="365760" cy="36576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8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93592" y="5303520"/>
            <a:ext cx="201168" cy="201168"/>
          </a:xfrm>
          <a:prstGeom prst="rect">
            <a:avLst/>
          </a:prstGeom>
        </p:spPr>
      </p:pic>
      <p:sp>
        <p:nvSpPr>
          <p:cNvPr id="84" name="Text 69"/>
          <p:cNvSpPr/>
          <p:nvPr/>
        </p:nvSpPr>
        <p:spPr>
          <a:xfrm>
            <a:off x="3968496" y="5221224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IT Trainings  ·  resumed</a:t>
            </a:r>
            <a:endParaRPr lang="en-US" sz="1250" dirty="0"/>
          </a:p>
        </p:txBody>
      </p:sp>
      <p:sp>
        <p:nvSpPr>
          <p:cNvPr id="85" name="Text 70"/>
          <p:cNvSpPr/>
          <p:nvPr/>
        </p:nvSpPr>
        <p:spPr>
          <a:xfrm>
            <a:off x="3547872" y="56784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6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deep dive — </a:t>
            </a:r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Bets 2030 to all 2S IT staff; MCP &amp; Agent Registry; 10,000-agent goal.</a:t>
            </a:r>
            <a:endParaRPr lang="en-US" sz="1000" dirty="0"/>
          </a:p>
        </p:txBody>
      </p:sp>
      <p:sp>
        <p:nvSpPr>
          <p:cNvPr id="86" name="Text 71"/>
          <p:cNvSpPr/>
          <p:nvPr/>
        </p:nvSpPr>
        <p:spPr>
          <a:xfrm>
            <a:off x="3547872" y="60990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6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upskilling — </a:t>
            </a:r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&amp; LangGraph kicked off with a live business use-case demo.</a:t>
            </a:r>
            <a:endParaRPr lang="en-US" sz="1000" dirty="0"/>
          </a:p>
        </p:txBody>
      </p:sp>
      <p:sp>
        <p:nvSpPr>
          <p:cNvPr id="87" name="Shape 72"/>
          <p:cNvSpPr/>
          <p:nvPr/>
        </p:nvSpPr>
        <p:spPr>
          <a:xfrm>
            <a:off x="7918704" y="5074920"/>
            <a:ext cx="3813048" cy="1481328"/>
          </a:xfrm>
          <a:prstGeom prst="roundRect">
            <a:avLst>
              <a:gd name="adj" fmla="val 4938"/>
            </a:avLst>
          </a:prstGeom>
          <a:solidFill>
            <a:srgbClr val="FBF3DE"/>
          </a:solidFill>
          <a:ln w="12700">
            <a:solidFill>
              <a:srgbClr val="F0E2B8"/>
            </a:solidFill>
            <a:prstDash val="solid"/>
          </a:ln>
          <a:effectLst>
            <a:outerShdw sx="100000" sy="100000" kx="0" ky="0" algn="bl" rotWithShape="0" blurRad="88900" dist="38100" dir="5400000">
              <a:srgbClr val="1A3A2B">
                <a:alpha val="13000"/>
              </a:srgbClr>
            </a:outerShdw>
          </a:effectLst>
        </p:spPr>
      </p:sp>
      <p:sp>
        <p:nvSpPr>
          <p:cNvPr id="88" name="Shape 73"/>
          <p:cNvSpPr/>
          <p:nvPr/>
        </p:nvSpPr>
        <p:spPr>
          <a:xfrm>
            <a:off x="8083296" y="5221224"/>
            <a:ext cx="365760" cy="365760"/>
          </a:xfrm>
          <a:prstGeom prst="ellipse">
            <a:avLst/>
          </a:prstGeom>
          <a:solidFill>
            <a:srgbClr val="F6E3A8"/>
          </a:solidFill>
          <a:ln/>
        </p:spPr>
      </p:sp>
      <p:pic>
        <p:nvPicPr>
          <p:cNvPr id="89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0164" y="5308092"/>
            <a:ext cx="187452" cy="187452"/>
          </a:xfrm>
          <a:prstGeom prst="rect">
            <a:avLst/>
          </a:prstGeom>
        </p:spPr>
      </p:pic>
      <p:sp>
        <p:nvSpPr>
          <p:cNvPr id="90" name="Text 74"/>
          <p:cNvSpPr/>
          <p:nvPr/>
        </p:nvSpPr>
        <p:spPr>
          <a:xfrm>
            <a:off x="8540496" y="5221224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Prompt-a-thon wins</a:t>
            </a:r>
            <a:endParaRPr lang="en-US" sz="1250" dirty="0"/>
          </a:p>
        </p:txBody>
      </p:sp>
      <p:sp>
        <p:nvSpPr>
          <p:cNvPr id="91" name="Text 75"/>
          <p:cNvSpPr/>
          <p:nvPr/>
        </p:nvSpPr>
        <p:spPr>
          <a:xfrm>
            <a:off x="8119872" y="566013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B9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369</a:t>
            </a:r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prompts received  ·  </a:t>
            </a:r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B9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100</a:t>
            </a:r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added to prompt library.</a:t>
            </a:r>
            <a:endParaRPr lang="en-US" sz="1700" dirty="0"/>
          </a:p>
        </p:txBody>
      </p:sp>
      <p:sp>
        <p:nvSpPr>
          <p:cNvPr id="92" name="Text 76"/>
          <p:cNvSpPr/>
          <p:nvPr/>
        </p:nvSpPr>
        <p:spPr>
          <a:xfrm>
            <a:off x="8119872" y="609904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 + BSU edition </a:t>
            </a:r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conducted; OPS team supported on prompt techniques.</a:t>
            </a:r>
            <a:endParaRPr lang="en-US" sz="1000" dirty="0"/>
          </a:p>
        </p:txBody>
      </p:sp>
      <p:sp>
        <p:nvSpPr>
          <p:cNvPr id="93" name="Text 77"/>
          <p:cNvSpPr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Program Office  ·  Confidential — for CIO review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Program Updates - CIO Review</dc:title>
  <dc:subject>PptxGenJS Presentation</dc:subject>
  <dc:creator>AI Program Office</dc:creator>
  <cp:lastModifiedBy>AI Program Office</cp:lastModifiedBy>
  <cp:revision>1</cp:revision>
  <dcterms:created xsi:type="dcterms:W3CDTF">2026-06-25T16:27:12Z</dcterms:created>
  <dcterms:modified xsi:type="dcterms:W3CDTF">2026-06-25T16:27:12Z</dcterms:modified>
</cp:coreProperties>
</file>