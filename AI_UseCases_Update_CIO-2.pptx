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15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F6-4417-B143-536197A65A25}"/>
              </c:ext>
            </c:extLst>
          </c:dPt>
          <c:dPt>
            <c:idx val="1"/>
            <c:bubble3D val="0"/>
            <c:spPr>
              <a:solidFill>
                <a:srgbClr val="E0A1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F6-4417-B143-536197A65A25}"/>
              </c:ext>
            </c:extLst>
          </c:dPt>
          <c:dPt>
            <c:idx val="2"/>
            <c:bubble3D val="0"/>
            <c:spPr>
              <a:solidFill>
                <a:srgbClr val="4FC78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F6-4417-B143-536197A65A25}"/>
              </c:ext>
            </c:extLst>
          </c:dPt>
          <c:cat>
            <c:strRef>
              <c:f>Sheet1!$A$2:$A$4</c:f>
              <c:strCache>
                <c:ptCount val="3"/>
                <c:pt idx="0">
                  <c:v>IT</c:v>
                </c:pt>
                <c:pt idx="1">
                  <c:v>Business</c:v>
                </c:pt>
                <c:pt idx="2">
                  <c:v>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F6-4417-B143-536197A65A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22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chart" Target="../charts/chart1.xm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4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AI USE CASES — COLLECTION TO DELIVERY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Review  ·  June 2026  ·  17 use cases in active delivery across IT, Business &amp; All functions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764792" cy="548640"/>
          </a:xfrm>
          <a:prstGeom prst="roundRect">
            <a:avLst>
              <a:gd name="adj" fmla="val 16667"/>
            </a:avLst>
          </a:prstGeom>
          <a:solidFill>
            <a:srgbClr val="00633C"/>
          </a:solidFill>
          <a:ln/>
          <a:effectLst>
            <a:outerShdw blurRad="63500" dist="25400" dir="5400000" algn="bl" rotWithShape="0">
              <a:srgbClr val="1A3A2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66960" y="329184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kern="0" spc="100" dirty="0">
                <a:solidFill>
                  <a:srgbClr val="8FD9B5"/>
                </a:solidFill>
              </a:rPr>
              <a:t>USE CASES
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Deep Dive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3063240" cy="896112"/>
          </a:xfrm>
          <a:prstGeom prst="chevron">
            <a:avLst/>
          </a:prstGeom>
          <a:solidFill>
            <a:srgbClr val="1FB36B"/>
          </a:solidFill>
          <a:ln/>
          <a:effectLst>
            <a:outerShdw blurRad="63500" dist="25400" dir="5400000" algn="bl" rotWithShape="0">
              <a:srgbClr val="1A3A2B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188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1161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45+</a:t>
            </a:r>
            <a:r>
              <a:rPr lang="en-US" sz="900" b="1" dirty="0">
                <a:solidFill>
                  <a:srgbClr val="8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cases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1499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0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&amp; shortlisted</a:t>
            </a:r>
            <a:endParaRPr lang="en-US" sz="9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90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all-staff collection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54680" y="1042416"/>
            <a:ext cx="3063240" cy="896112"/>
          </a:xfrm>
          <a:prstGeom prst="chevron">
            <a:avLst/>
          </a:prstGeom>
          <a:solidFill>
            <a:srgbClr val="00A951"/>
          </a:solidFill>
          <a:ln/>
          <a:effectLst>
            <a:outerShdw blurRad="63500" dist="25400" dir="5400000" algn="bl" rotWithShape="0">
              <a:srgbClr val="1A3A2B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1188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97096" y="1161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r>
              <a:rPr lang="en-US" sz="900" b="1" dirty="0">
                <a:solidFill>
                  <a:srgbClr val="8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cases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813048" y="1499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0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Clubbed by goal &amp;</a:t>
            </a:r>
            <a:endParaRPr lang="en-US" sz="9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90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CIO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852160" y="1042416"/>
            <a:ext cx="3063240" cy="896112"/>
          </a:xfrm>
          <a:prstGeom prst="chevron">
            <a:avLst/>
          </a:prstGeom>
          <a:solidFill>
            <a:srgbClr val="00915A"/>
          </a:solidFill>
          <a:ln/>
          <a:effectLst>
            <a:outerShdw blurRad="63500" dist="25400" dir="5400000" algn="bl" rotWithShape="0">
              <a:srgbClr val="1A3A2B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1887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94576" y="1161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r>
              <a:rPr lang="en-US" sz="900" b="1" dirty="0">
                <a:solidFill>
                  <a:srgbClr val="8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roadmap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510528" y="1499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0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roadmap</a:t>
            </a:r>
            <a:endParaRPr lang="en-US" sz="9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90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(as shared)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8549640" y="1042416"/>
            <a:ext cx="3063240" cy="896112"/>
          </a:xfrm>
          <a:prstGeom prst="chevron">
            <a:avLst/>
          </a:prstGeom>
          <a:solidFill>
            <a:srgbClr val="00633C"/>
          </a:solidFill>
          <a:ln/>
          <a:effectLst>
            <a:outerShdw blurRad="63500" dist="25400" dir="5400000" algn="bl" rotWithShape="0">
              <a:srgbClr val="1A3A2B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8008" y="118872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92056" y="1161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900" b="1" dirty="0">
                <a:solidFill>
                  <a:srgbClr val="8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batches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9208008" y="1499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0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done with</a:t>
            </a:r>
            <a:endParaRPr lang="en-US" sz="9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900" dirty="0">
                <a:solidFill>
                  <a:srgbClr val="E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Catalyst team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" y="20299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" dirty="0">
                <a:solidFill>
                  <a:srgbClr val="006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USE CASES IN DELIVERY  ·  BY FUNCTION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72668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" dirty="0">
                <a:solidFill>
                  <a:srgbClr val="006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&amp; DATA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2340864"/>
            <a:ext cx="4023360" cy="3968496"/>
          </a:xfrm>
          <a:prstGeom prst="roundRect">
            <a:avLst>
              <a:gd name="adj" fmla="val 1382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blurRad="88900" dist="38100" dir="5400000" algn="bl" rotWithShape="0">
              <a:srgbClr val="1A3A2B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2523744"/>
            <a:ext cx="420624" cy="42062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" y="2619756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70432" y="2542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sz="110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 use cases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76656" y="3054096"/>
            <a:ext cx="363931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Domain Governance Program (CAB approval)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Syb2ora — industry-standard DB conversion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 Forge AI — quick-starter agent (DMZR as C)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Agile Sprint Coach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Self-Healing Jenkins Agent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Self-Healing Automation Locators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WTX Suite Manager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Unified Test Pack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Genie Code Reviewer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Risk Audit Agent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MS SQL Version Upgrade Agent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Frontend Automated Version Migration Agent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r>
              <a:rPr lang="en-US" sz="10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X-Press Dev Suite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617720" y="2340864"/>
            <a:ext cx="2880360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blurRad="88900" dist="38100" dir="5400000" algn="bl" rotWithShape="0">
              <a:srgbClr val="1A3A2B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00600" y="2523744"/>
            <a:ext cx="420624" cy="420624"/>
          </a:xfrm>
          <a:prstGeom prst="ellipse">
            <a:avLst/>
          </a:prstGeom>
          <a:solidFill>
            <a:srgbClr val="E0A10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6612" y="2619756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30952" y="25420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r>
              <a:rPr lang="en-US" sz="1100" b="1" dirty="0">
                <a:solidFill>
                  <a:srgbClr val="B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4837176" y="3090672"/>
            <a:ext cx="24963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r>
              <a:rPr lang="en-US" sz="11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Fax Automation Agent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r>
              <a:rPr lang="en-US" sz="11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Tax Buddy Agent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617720" y="4443984"/>
            <a:ext cx="2880360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blurRad="88900" dist="38100" dir="5400000" algn="bl" rotWithShape="0">
              <a:srgbClr val="1A3A2B">
                <a:alpha val="13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00600" y="4626864"/>
            <a:ext cx="420624" cy="420624"/>
          </a:xfrm>
          <a:prstGeom prst="ellipse">
            <a:avLst/>
          </a:prstGeom>
          <a:solidFill>
            <a:srgbClr val="4FC78A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6612" y="4722876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330952" y="46451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Functions</a:t>
            </a:r>
            <a:r>
              <a:rPr lang="en-US" sz="1100" b="1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4837176" y="5193792"/>
            <a:ext cx="24963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r>
              <a:rPr lang="en-US" sz="11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PowerPoint Presentation Agent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FC7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r>
              <a:rPr lang="en-US" sz="11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WCAG — Web Accessibility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7726680" y="2340864"/>
            <a:ext cx="4005072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blurRad="88900" dist="38100" dir="5400000" algn="bl" rotWithShape="0">
              <a:srgbClr val="1A3A2B">
                <a:alpha val="13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7927848" y="24505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by function</a:t>
            </a:r>
            <a:endParaRPr lang="en-US" sz="1150" dirty="0"/>
          </a:p>
        </p:txBody>
      </p:sp>
      <p:graphicFrame>
        <p:nvGraphicFramePr>
          <p:cNvPr id="41" name="Chart 0"/>
          <p:cNvGraphicFramePr/>
          <p:nvPr/>
        </p:nvGraphicFramePr>
        <p:xfrm>
          <a:off x="7891272" y="2706624"/>
          <a:ext cx="932688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2" name="Text 32"/>
          <p:cNvSpPr/>
          <p:nvPr/>
        </p:nvSpPr>
        <p:spPr>
          <a:xfrm>
            <a:off x="7891272" y="3017520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600" dirty="0"/>
          </a:p>
        </p:txBody>
      </p:sp>
      <p:sp>
        <p:nvSpPr>
          <p:cNvPr id="43" name="Shape 33"/>
          <p:cNvSpPr/>
          <p:nvPr/>
        </p:nvSpPr>
        <p:spPr>
          <a:xfrm>
            <a:off x="9025128" y="2788920"/>
            <a:ext cx="146304" cy="146304"/>
          </a:xfrm>
          <a:prstGeom prst="ellipse">
            <a:avLst/>
          </a:prstGeom>
          <a:solidFill>
            <a:srgbClr val="00915A"/>
          </a:solidFill>
          <a:ln/>
        </p:spPr>
      </p:sp>
      <p:sp>
        <p:nvSpPr>
          <p:cNvPr id="44" name="Text 34"/>
          <p:cNvSpPr/>
          <p:nvPr/>
        </p:nvSpPr>
        <p:spPr>
          <a:xfrm>
            <a:off x="9244584" y="27249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10652760" y="27249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50" dirty="0"/>
          </a:p>
        </p:txBody>
      </p:sp>
      <p:sp>
        <p:nvSpPr>
          <p:cNvPr id="46" name="Shape 36"/>
          <p:cNvSpPr/>
          <p:nvPr/>
        </p:nvSpPr>
        <p:spPr>
          <a:xfrm>
            <a:off x="9025128" y="3072384"/>
            <a:ext cx="146304" cy="146304"/>
          </a:xfrm>
          <a:prstGeom prst="ellipse">
            <a:avLst/>
          </a:prstGeom>
          <a:solidFill>
            <a:srgbClr val="E0A100"/>
          </a:solidFill>
          <a:ln/>
        </p:spPr>
      </p:sp>
      <p:sp>
        <p:nvSpPr>
          <p:cNvPr id="47" name="Text 37"/>
          <p:cNvSpPr/>
          <p:nvPr/>
        </p:nvSpPr>
        <p:spPr>
          <a:xfrm>
            <a:off x="9244584" y="30083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10652760" y="3008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49" name="Shape 39"/>
          <p:cNvSpPr/>
          <p:nvPr/>
        </p:nvSpPr>
        <p:spPr>
          <a:xfrm>
            <a:off x="9025128" y="3355848"/>
            <a:ext cx="146304" cy="146304"/>
          </a:xfrm>
          <a:prstGeom prst="ellipse">
            <a:avLst/>
          </a:prstGeom>
          <a:solidFill>
            <a:srgbClr val="4FC78A"/>
          </a:solidFill>
          <a:ln/>
        </p:spPr>
      </p:sp>
      <p:sp>
        <p:nvSpPr>
          <p:cNvPr id="50" name="Text 40"/>
          <p:cNvSpPr/>
          <p:nvPr/>
        </p:nvSpPr>
        <p:spPr>
          <a:xfrm>
            <a:off x="9244584" y="3291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Functions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10652760" y="3291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52" name="Shape 42"/>
          <p:cNvSpPr/>
          <p:nvPr/>
        </p:nvSpPr>
        <p:spPr>
          <a:xfrm>
            <a:off x="7726680" y="3785616"/>
            <a:ext cx="4005072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BE1"/>
            </a:solidFill>
            <a:prstDash val="solid"/>
          </a:ln>
          <a:effectLst>
            <a:outerShdw blurRad="88900" dist="38100" dir="5400000" algn="bl" rotWithShape="0">
              <a:srgbClr val="1A3A2B">
                <a:alpha val="13000"/>
              </a:srgbClr>
            </a:outerShdw>
          </a:effectLst>
        </p:spPr>
      </p:sp>
      <p:sp>
        <p:nvSpPr>
          <p:cNvPr id="53" name="Text 43"/>
          <p:cNvSpPr/>
          <p:nvPr/>
        </p:nvSpPr>
        <p:spPr>
          <a:xfrm>
            <a:off x="7927848" y="3877056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pipeline</a:t>
            </a:r>
            <a:r>
              <a:rPr lang="en-US" sz="950" i="1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of 17 use cases</a:t>
            </a:r>
            <a:endParaRPr lang="en-US" sz="1150" dirty="0"/>
          </a:p>
        </p:txBody>
      </p:sp>
      <p:sp>
        <p:nvSpPr>
          <p:cNvPr id="54" name="Text 44"/>
          <p:cNvSpPr/>
          <p:nvPr/>
        </p:nvSpPr>
        <p:spPr>
          <a:xfrm>
            <a:off x="7927848" y="42016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meetings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9482328" y="4242816"/>
            <a:ext cx="1627632" cy="118872"/>
          </a:xfrm>
          <a:prstGeom prst="roundRect">
            <a:avLst>
              <a:gd name="adj" fmla="val 46154"/>
            </a:avLst>
          </a:prstGeom>
          <a:solidFill>
            <a:srgbClr val="E3EFE9"/>
          </a:solidFill>
          <a:ln/>
        </p:spPr>
      </p:sp>
      <p:sp>
        <p:nvSpPr>
          <p:cNvPr id="56" name="Shape 46"/>
          <p:cNvSpPr/>
          <p:nvPr/>
        </p:nvSpPr>
        <p:spPr>
          <a:xfrm>
            <a:off x="9482328" y="4242816"/>
            <a:ext cx="1627632" cy="118872"/>
          </a:xfrm>
          <a:prstGeom prst="roundRect">
            <a:avLst>
              <a:gd name="adj" fmla="val 46154"/>
            </a:avLst>
          </a:prstGeom>
          <a:solidFill>
            <a:srgbClr val="00915A"/>
          </a:solidFill>
          <a:ln/>
        </p:spPr>
      </p:sp>
      <p:sp>
        <p:nvSpPr>
          <p:cNvPr id="57" name="Text 47"/>
          <p:cNvSpPr/>
          <p:nvPr/>
        </p:nvSpPr>
        <p:spPr>
          <a:xfrm>
            <a:off x="11164824" y="41742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200" dirty="0"/>
          </a:p>
        </p:txBody>
      </p:sp>
      <p:sp>
        <p:nvSpPr>
          <p:cNvPr id="58" name="Text 48"/>
          <p:cNvSpPr/>
          <p:nvPr/>
        </p:nvSpPr>
        <p:spPr>
          <a:xfrm>
            <a:off x="7927848" y="4434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identified</a:t>
            </a:r>
            <a:endParaRPr lang="en-US" sz="900" dirty="0"/>
          </a:p>
        </p:txBody>
      </p:sp>
      <p:sp>
        <p:nvSpPr>
          <p:cNvPr id="59" name="Shape 49"/>
          <p:cNvSpPr/>
          <p:nvPr/>
        </p:nvSpPr>
        <p:spPr>
          <a:xfrm>
            <a:off x="9482328" y="4475988"/>
            <a:ext cx="1627632" cy="118872"/>
          </a:xfrm>
          <a:prstGeom prst="roundRect">
            <a:avLst>
              <a:gd name="adj" fmla="val 46154"/>
            </a:avLst>
          </a:prstGeom>
          <a:solidFill>
            <a:srgbClr val="E3EFE9"/>
          </a:solidFill>
          <a:ln/>
        </p:spPr>
      </p:sp>
      <p:sp>
        <p:nvSpPr>
          <p:cNvPr id="60" name="Shape 50"/>
          <p:cNvSpPr/>
          <p:nvPr/>
        </p:nvSpPr>
        <p:spPr>
          <a:xfrm>
            <a:off x="9482328" y="4475988"/>
            <a:ext cx="1627632" cy="118872"/>
          </a:xfrm>
          <a:prstGeom prst="roundRect">
            <a:avLst>
              <a:gd name="adj" fmla="val 46154"/>
            </a:avLst>
          </a:prstGeom>
          <a:solidFill>
            <a:srgbClr val="00915A"/>
          </a:solidFill>
          <a:ln/>
        </p:spPr>
      </p:sp>
      <p:sp>
        <p:nvSpPr>
          <p:cNvPr id="61" name="Text 51"/>
          <p:cNvSpPr/>
          <p:nvPr/>
        </p:nvSpPr>
        <p:spPr>
          <a:xfrm>
            <a:off x="11164824" y="44074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200" dirty="0"/>
          </a:p>
        </p:txBody>
      </p:sp>
      <p:sp>
        <p:nvSpPr>
          <p:cNvPr id="62" name="Text 52"/>
          <p:cNvSpPr/>
          <p:nvPr/>
        </p:nvSpPr>
        <p:spPr>
          <a:xfrm>
            <a:off x="7927848" y="46680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completed</a:t>
            </a:r>
            <a:endParaRPr lang="en-US" sz="900" dirty="0"/>
          </a:p>
        </p:txBody>
      </p:sp>
      <p:sp>
        <p:nvSpPr>
          <p:cNvPr id="63" name="Shape 53"/>
          <p:cNvSpPr/>
          <p:nvPr/>
        </p:nvSpPr>
        <p:spPr>
          <a:xfrm>
            <a:off x="9482328" y="4709160"/>
            <a:ext cx="1627632" cy="118872"/>
          </a:xfrm>
          <a:prstGeom prst="roundRect">
            <a:avLst>
              <a:gd name="adj" fmla="val 46154"/>
            </a:avLst>
          </a:prstGeom>
          <a:solidFill>
            <a:srgbClr val="E3EFE9"/>
          </a:solidFill>
          <a:ln/>
        </p:spPr>
      </p:sp>
      <p:sp>
        <p:nvSpPr>
          <p:cNvPr id="64" name="Shape 54"/>
          <p:cNvSpPr/>
          <p:nvPr/>
        </p:nvSpPr>
        <p:spPr>
          <a:xfrm>
            <a:off x="9482328" y="4709160"/>
            <a:ext cx="1244660" cy="118872"/>
          </a:xfrm>
          <a:prstGeom prst="roundRect">
            <a:avLst>
              <a:gd name="adj" fmla="val 46154"/>
            </a:avLst>
          </a:prstGeom>
          <a:solidFill>
            <a:srgbClr val="00A951"/>
          </a:solidFill>
          <a:ln/>
        </p:spPr>
      </p:sp>
      <p:sp>
        <p:nvSpPr>
          <p:cNvPr id="65" name="Text 55"/>
          <p:cNvSpPr/>
          <p:nvPr/>
        </p:nvSpPr>
        <p:spPr>
          <a:xfrm>
            <a:off x="11164824" y="46405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66" name="Text 56"/>
          <p:cNvSpPr/>
          <p:nvPr/>
        </p:nvSpPr>
        <p:spPr>
          <a:xfrm>
            <a:off x="7927848" y="4901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50% build</a:t>
            </a:r>
            <a:endParaRPr lang="en-US" sz="900" dirty="0"/>
          </a:p>
        </p:txBody>
      </p:sp>
      <p:sp>
        <p:nvSpPr>
          <p:cNvPr id="67" name="Shape 57"/>
          <p:cNvSpPr/>
          <p:nvPr/>
        </p:nvSpPr>
        <p:spPr>
          <a:xfrm>
            <a:off x="9482328" y="4942332"/>
            <a:ext cx="1627632" cy="118872"/>
          </a:xfrm>
          <a:prstGeom prst="roundRect">
            <a:avLst>
              <a:gd name="adj" fmla="val 46154"/>
            </a:avLst>
          </a:prstGeom>
          <a:solidFill>
            <a:srgbClr val="E3EFE9"/>
          </a:solidFill>
          <a:ln/>
        </p:spPr>
      </p:sp>
      <p:sp>
        <p:nvSpPr>
          <p:cNvPr id="68" name="Shape 58"/>
          <p:cNvSpPr/>
          <p:nvPr/>
        </p:nvSpPr>
        <p:spPr>
          <a:xfrm>
            <a:off x="9482328" y="4942332"/>
            <a:ext cx="382972" cy="118872"/>
          </a:xfrm>
          <a:prstGeom prst="roundRect">
            <a:avLst>
              <a:gd name="adj" fmla="val 46154"/>
            </a:avLst>
          </a:prstGeom>
          <a:solidFill>
            <a:srgbClr val="E0A100"/>
          </a:solidFill>
          <a:ln/>
        </p:spPr>
      </p:sp>
      <p:sp>
        <p:nvSpPr>
          <p:cNvPr id="69" name="Text 59"/>
          <p:cNvSpPr/>
          <p:nvPr/>
        </p:nvSpPr>
        <p:spPr>
          <a:xfrm>
            <a:off x="11164824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70" name="Shape 60"/>
          <p:cNvSpPr/>
          <p:nvPr/>
        </p:nvSpPr>
        <p:spPr>
          <a:xfrm>
            <a:off x="7726680" y="5321808"/>
            <a:ext cx="4005072" cy="987552"/>
          </a:xfrm>
          <a:prstGeom prst="roundRect">
            <a:avLst>
              <a:gd name="adj" fmla="val 5556"/>
            </a:avLst>
          </a:prstGeom>
          <a:solidFill>
            <a:srgbClr val="FBF3DE"/>
          </a:solidFill>
          <a:ln w="12700">
            <a:solidFill>
              <a:srgbClr val="F0E2B8"/>
            </a:solidFill>
            <a:prstDash val="solid"/>
          </a:ln>
          <a:effectLst>
            <a:outerShdw blurRad="88900" dist="38100" dir="5400000" algn="bl" rotWithShape="0">
              <a:srgbClr val="1A3A2B">
                <a:alpha val="13000"/>
              </a:srgbClr>
            </a:outerShdw>
          </a:effectLst>
        </p:spPr>
      </p:sp>
      <p:sp>
        <p:nvSpPr>
          <p:cNvPr id="71" name="Shape 61"/>
          <p:cNvSpPr/>
          <p:nvPr/>
        </p:nvSpPr>
        <p:spPr>
          <a:xfrm>
            <a:off x="7909560" y="5596128"/>
            <a:ext cx="438912" cy="438912"/>
          </a:xfrm>
          <a:prstGeom prst="ellipse">
            <a:avLst/>
          </a:prstGeom>
          <a:solidFill>
            <a:srgbClr val="E0A100"/>
          </a:solidFill>
          <a:ln/>
        </p:spPr>
      </p:sp>
      <p:pic>
        <p:nvPicPr>
          <p:cNvPr id="72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5572" y="5678424"/>
            <a:ext cx="265176" cy="265176"/>
          </a:xfrm>
          <a:prstGeom prst="rect">
            <a:avLst/>
          </a:prstGeom>
        </p:spPr>
      </p:pic>
      <p:sp>
        <p:nvSpPr>
          <p:cNvPr id="73" name="Text 62"/>
          <p:cNvSpPr/>
          <p:nvPr/>
        </p:nvSpPr>
        <p:spPr>
          <a:xfrm>
            <a:off x="8476488" y="546811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60" dirty="0">
                <a:solidFill>
                  <a:srgbClr val="B9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
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required for these use cases to progress to the next build stage.</a:t>
            </a:r>
            <a:endParaRPr lang="en-US" sz="1000" dirty="0"/>
          </a:p>
        </p:txBody>
      </p:sp>
      <p:sp>
        <p:nvSpPr>
          <p:cNvPr id="74" name="Text 63"/>
          <p:cNvSpPr/>
          <p:nvPr/>
        </p:nvSpPr>
        <p:spPr>
          <a:xfrm>
            <a:off x="457200" y="652881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A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Office  ·  Confidential — for CIO review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</Words>
  <Application>Microsoft Office PowerPoint</Application>
  <PresentationFormat>Widescreen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AI Use Cases - Collection to Delivery</dc:title>
  <dc:subject>PptxGenJS Presentation</dc:subject>
  <dc:creator>AI Program Office</dc:creator>
  <cp:lastModifiedBy>LENOVO</cp:lastModifiedBy>
  <cp:revision>1</cp:revision>
  <dcterms:created xsi:type="dcterms:W3CDTF">2026-06-26T10:45:58Z</dcterms:created>
  <dcterms:modified xsi:type="dcterms:W3CDTF">2026-06-26T10:55:30Z</dcterms:modified>
</cp:coreProperties>
</file>